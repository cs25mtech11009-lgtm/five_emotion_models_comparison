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2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presProps.xml" ContentType="application/vnd.openxmlformats-officedocument.presentationml.presPro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ED8B93-4587-4CF2-87B3-8F15011737C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0C4848-A254-4F30-97F9-DD7085DB7A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E5D400-FFA6-43CD-B559-F484F84344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FFD276-BB47-459F-8B03-45EA042E88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2DE2F2-79FF-4591-9CD0-9E76F84B46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A1C5B5-8B99-4926-B992-38152EA62D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4C8A60-22B6-43E5-9C6C-FD84BF8903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4093C7-C7FA-4523-9832-28DD8F9929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2599D4-793B-425F-A6C2-CB2CD2893E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C70415-C869-423F-9D2B-0553BCD514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3671A4-B410-4329-B8FF-72F08B807FC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D4A8F9-18D7-4935-B134-000F0B6C6DD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1CAC0C8-50EB-4F3A-AB09-6B88426CF06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TextBox 2"/>
          <p:cNvSpPr/>
          <p:nvPr/>
        </p:nvSpPr>
        <p:spPr>
          <a:xfrm>
            <a:off x="731520" y="1143000"/>
            <a:ext cx="10789560" cy="108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400" spc="-1" strike="noStrike">
                <a:solidFill>
                  <a:srgbClr val="182234"/>
                </a:solidFill>
                <a:latin typeface="Aptos"/>
              </a:rPr>
              <a:t>Emotion &amp; Environmental Dynamics in Classic Literature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43" name="TextBox 3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1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44" name="TextBox 5"/>
          <p:cNvSpPr/>
          <p:nvPr/>
        </p:nvSpPr>
        <p:spPr>
          <a:xfrm>
            <a:off x="777240" y="4114800"/>
            <a:ext cx="10058040" cy="14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500" spc="-1" strike="noStrike">
                <a:solidFill>
                  <a:srgbClr val="161f30"/>
                </a:solidFill>
                <a:latin typeface="Aptos"/>
              </a:rPr>
              <a:t>4 public-domain books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500" spc="-1" strike="noStrike">
                <a:solidFill>
                  <a:srgbClr val="161f30"/>
                </a:solidFill>
                <a:latin typeface="Aptos"/>
              </a:rPr>
              <a:t>28 GoEmotions labels → selected non-neutral emotion analysis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500" spc="-1" strike="noStrike">
                <a:solidFill>
                  <a:srgbClr val="161f30"/>
                </a:solidFill>
                <a:latin typeface="Aptos"/>
              </a:rPr>
              <a:t>6 environmental topic categories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500" spc="-1" strike="noStrike">
                <a:solidFill>
                  <a:srgbClr val="161f30"/>
                </a:solidFill>
                <a:latin typeface="Aptos"/>
              </a:rPr>
              <a:t>Sentence-flow + paragraph-level results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5" name="TextBox 6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1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Study design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48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What was analyzed and how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777240" y="1417320"/>
            <a:ext cx="10469520" cy="26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Input: Project Gutenberg plain-text editions of four classic books.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Segmentation: book → paragraphs → sentences.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Emotion model: cirimus/modernbert-base-go-emotions with 28 GoEmotions labels.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Paragraph results: sentence emotion probabilities aggregated to paragraph level; dominant selected emotion summarized.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Environmental detection: lexicon-based matching across six topic groups.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Sentence-flow plots: two sampled sets of 20 paragraphs per book to visualize local emotion transitions.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0" name="TextBox 5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2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Dataset &amp; processing scale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The experiments cover 13,000+ analyzed sentences</a:t>
            </a:r>
            <a:endParaRPr b="0" lang="en-IN" sz="1100" spc="-1" strike="noStrike">
              <a:latin typeface="Arial"/>
            </a:endParaRPr>
          </a:p>
        </p:txBody>
      </p:sp>
      <p:graphicFrame>
        <p:nvGraphicFramePr>
          <p:cNvPr id="54" name="Table 4"/>
          <p:cNvGraphicFramePr/>
          <p:nvPr/>
        </p:nvGraphicFramePr>
        <p:xfrm>
          <a:off x="640080" y="1417320"/>
          <a:ext cx="10926720" cy="4114440"/>
        </p:xfrm>
        <a:graphic>
          <a:graphicData uri="http://schemas.openxmlformats.org/drawingml/2006/table">
            <a:tbl>
              <a:tblPr/>
              <a:tblGrid>
                <a:gridCol w="3748680"/>
                <a:gridCol w="1188720"/>
                <a:gridCol w="1554480"/>
                <a:gridCol w="1554480"/>
                <a:gridCol w="2880360"/>
              </a:tblGrid>
              <a:tr h="822960">
                <a:tc>
                  <a:txBody>
                    <a:bodyPr lIns="63720" rIns="63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Book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Gutenberg ID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Paragraphs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Sentences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61f30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Sentence-flow samples</a:t>
                      </a:r>
                      <a:endParaRPr b="0" lang="en-IN" sz="11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61f30"/>
                    </a:solidFill>
                  </a:tcPr>
                </a:tc>
              </a:tr>
              <a:tr h="822960">
                <a:tc>
                  <a:txBody>
                    <a:bodyPr lIns="63720" rIns="63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Alice's Adventures in Wonderland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11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797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1,524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52 sentences + 64 sentences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63720" rIns="63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Frankenstein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84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749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3,344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118 sentences + 91 sentences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63720" rIns="63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Pride and Prejudice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1342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2,116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6,051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81 sentences + 84 sentences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lIns="63720" rIns="6372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The Adventures of Sherlock Holmes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1661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2,308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6,479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63720" rIns="6372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000" spc="-1" strike="noStrike">
                          <a:solidFill>
                            <a:srgbClr val="182234"/>
                          </a:solidFill>
                          <a:latin typeface="Aptos"/>
                        </a:rPr>
                        <a:t>62 sentences + 96 sentences</a:t>
                      </a:r>
                      <a:endParaRPr b="0" lang="en-IN" sz="1000" spc="-1" strike="noStrike">
                        <a:latin typeface="Arial"/>
                      </a:endParaRPr>
                    </a:p>
                  </a:txBody>
                  <a:tcPr anchor="t" marL="63720" marR="637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"/>
          <p:cNvSpPr/>
          <p:nvPr/>
        </p:nvSpPr>
        <p:spPr>
          <a:xfrm>
            <a:off x="777240" y="5669280"/>
            <a:ext cx="10515240" cy="57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200" spc="-1" strike="noStrike">
                <a:solidFill>
                  <a:srgbClr val="161f30"/>
                </a:solidFill>
                <a:latin typeface="Calibri"/>
              </a:rPr>
              <a:t>Total: 3,964 paragraphs and 13,398 sentences across the four books.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200" spc="-1" strike="noStrike">
                <a:solidFill>
                  <a:srgbClr val="161f30"/>
                </a:solidFill>
                <a:latin typeface="Calibri"/>
              </a:rPr>
              <a:t>The notebooks use the same modeling and visualization pipeline for cross-book comparison.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6" name="TextBox 6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3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Emotion results by book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59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Top selected dominant emotions at paragraph level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60" name="Picture 4" descr="emotion_11.png"/>
          <p:cNvPicPr/>
          <p:nvPr/>
        </p:nvPicPr>
        <p:blipFill>
          <a:blip r:embed="rId1"/>
          <a:stretch/>
        </p:blipFill>
        <p:spPr>
          <a:xfrm>
            <a:off x="594360" y="1234440"/>
            <a:ext cx="5257440" cy="223992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5" descr="emotion_84.png"/>
          <p:cNvPicPr/>
          <p:nvPr/>
        </p:nvPicPr>
        <p:blipFill>
          <a:blip r:embed="rId2"/>
          <a:stretch/>
        </p:blipFill>
        <p:spPr>
          <a:xfrm>
            <a:off x="6355080" y="1234440"/>
            <a:ext cx="5257440" cy="223992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6" descr="emotion_1342.png"/>
          <p:cNvPicPr/>
          <p:nvPr/>
        </p:nvPicPr>
        <p:blipFill>
          <a:blip r:embed="rId3"/>
          <a:stretch/>
        </p:blipFill>
        <p:spPr>
          <a:xfrm>
            <a:off x="594360" y="3794760"/>
            <a:ext cx="5257440" cy="223992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7" descr="emotion_1661.png"/>
          <p:cNvPicPr/>
          <p:nvPr/>
        </p:nvPicPr>
        <p:blipFill>
          <a:blip r:embed="rId4"/>
          <a:stretch/>
        </p:blipFill>
        <p:spPr>
          <a:xfrm>
            <a:off x="6355080" y="3794760"/>
            <a:ext cx="5257440" cy="2239920"/>
          </a:xfrm>
          <a:prstGeom prst="rect">
            <a:avLst/>
          </a:prstGeom>
          <a:ln w="0">
            <a:noFill/>
          </a:ln>
        </p:spPr>
      </p:pic>
      <p:sp>
        <p:nvSpPr>
          <p:cNvPr id="64" name="TextBox 8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4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Key emotion findings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67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What changes across the four narratives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77240" y="1417320"/>
            <a:ext cx="10469520" cy="27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Alice: approval (152), curiosity (143) and annoyance (138) dominate the selected paragraph labels.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Frankenstein: sadness (131) is the leading selected emotion, followed by admiration (95), approval (92) and realization (69).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Pride and Prejudice: approval (558) is especially prominent, with admiration (301), curiosity (257) and disapproval (178) also frequent.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Sherlock Holmes: approval (712) and curiosity (482) dominate, consistent with a strongly investigative narrative profile.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The distributions show that the same model can expose markedly different emotional signatures across literary styles.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Cross-book emotion comparison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Selected dominant emotions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73" name="Picture 4" descr="emotion_compare.png"/>
          <p:cNvPicPr/>
          <p:nvPr/>
        </p:nvPicPr>
        <p:blipFill>
          <a:blip r:embed="rId1"/>
          <a:stretch/>
        </p:blipFill>
        <p:spPr>
          <a:xfrm>
            <a:off x="685800" y="1234440"/>
            <a:ext cx="10789560" cy="4891680"/>
          </a:xfrm>
          <a:prstGeom prst="rect">
            <a:avLst/>
          </a:prstGeom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6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Environmental-topic results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Topic presence detected in paragraphs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78" name="Picture 4" descr="env_11.png"/>
          <p:cNvPicPr/>
          <p:nvPr/>
        </p:nvPicPr>
        <p:blipFill>
          <a:blip r:embed="rId1"/>
          <a:stretch/>
        </p:blipFill>
        <p:spPr>
          <a:xfrm>
            <a:off x="594360" y="1234440"/>
            <a:ext cx="5257440" cy="2239920"/>
          </a:xfrm>
          <a:prstGeom prst="rect">
            <a:avLst/>
          </a:prstGeom>
          <a:ln w="0">
            <a:noFill/>
          </a:ln>
        </p:spPr>
      </p:pic>
      <p:pic>
        <p:nvPicPr>
          <p:cNvPr id="79" name="Picture 5" descr="env_84.png"/>
          <p:cNvPicPr/>
          <p:nvPr/>
        </p:nvPicPr>
        <p:blipFill>
          <a:blip r:embed="rId2"/>
          <a:stretch/>
        </p:blipFill>
        <p:spPr>
          <a:xfrm>
            <a:off x="6355080" y="1234440"/>
            <a:ext cx="5257440" cy="223992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6" descr="env_1342.png"/>
          <p:cNvPicPr/>
          <p:nvPr/>
        </p:nvPicPr>
        <p:blipFill>
          <a:blip r:embed="rId3"/>
          <a:stretch/>
        </p:blipFill>
        <p:spPr>
          <a:xfrm>
            <a:off x="594360" y="3794760"/>
            <a:ext cx="5257440" cy="223992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7" descr="env_1661.png"/>
          <p:cNvPicPr/>
          <p:nvPr/>
        </p:nvPicPr>
        <p:blipFill>
          <a:blip r:embed="rId4"/>
          <a:stretch/>
        </p:blipFill>
        <p:spPr>
          <a:xfrm>
            <a:off x="6355080" y="3794760"/>
            <a:ext cx="5257440" cy="2239920"/>
          </a:xfrm>
          <a:prstGeom prst="rect">
            <a:avLst/>
          </a:prstGeom>
          <a:ln w="0">
            <a:noFill/>
          </a:ln>
        </p:spPr>
      </p:pic>
      <p:sp>
        <p:nvSpPr>
          <p:cNvPr id="82" name="TextBox 8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7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Environmental patterns across books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Percentage of paragraphs containing each topic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86" name="Picture 4" descr="env_compare.png"/>
          <p:cNvPicPr/>
          <p:nvPr/>
        </p:nvPicPr>
        <p:blipFill>
          <a:blip r:embed="rId1"/>
          <a:stretch/>
        </p:blipFill>
        <p:spPr>
          <a:xfrm>
            <a:off x="685800" y="1234440"/>
            <a:ext cx="10789560" cy="4891680"/>
          </a:xfrm>
          <a:prstGeom prst="rect">
            <a:avLst/>
          </a:prstGeom>
          <a:ln w="0">
            <a:noFill/>
          </a:ln>
        </p:spPr>
      </p:pic>
      <p:sp>
        <p:nvSpPr>
          <p:cNvPr id="87" name="TextBox 5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8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Key environmental findings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How narrative settings differ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777240" y="1417320"/>
            <a:ext cx="10469520" cy="29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Alice: movement/travel is the most frequent detected context (28.7%), followed by time/season (18.1%).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Frankenstein: time/season (49.7%), movement/travel (46.1%) and social environment (42.6%) are strongly represented.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Pride and Prejudice: social environment is dominant (42.3%), followed by time/season (33.4%) and movement/travel (32.3%).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Sherlock Holmes: movement/travel (26.7%), time/season (25.3%) and built/indoor settings (22.1%) are prominent.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Weather/atmosphere is comparatively sparse in all four, except for a stronger presence in Frankenstein.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2" name="TextBox 5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9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Integrated interpretation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621720" y="93276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Emotion and environment together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777240" y="1417320"/>
            <a:ext cx="10515240" cy="325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161f30"/>
                </a:solidFill>
                <a:latin typeface="Calibri"/>
              </a:rPr>
              <a:t>Narrative emotion is not uniform: each book has a distinct concentration of selected emotions.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161f30"/>
                </a:solidFill>
                <a:latin typeface="Calibri"/>
              </a:rPr>
              <a:t>Pride and Prejudice and Sherlock Holmes show especially high approval-related paragraph counts, while Frankenstein is characterized by a stronger sadness/fear/realization profile.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161f30"/>
                </a:solidFill>
                <a:latin typeface="Calibri"/>
              </a:rPr>
              <a:t>Environmental context also differs: social settings are particularly prominent in Pride and Prejudice, while travel/time and indoor context are important in Sherlock Holmes and Frankenstein.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161f30"/>
                </a:solidFill>
                <a:latin typeface="Calibri"/>
              </a:rPr>
              <a:t>Sentence-level plots complement aggregate counts by revealing rapid local shifts between neighboring emotional states.</a:t>
            </a:r>
            <a:endParaRPr b="0" lang="en-IN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  <a:buNone/>
            </a:pPr>
            <a:r>
              <a:rPr b="0" lang="en-US" sz="1700" spc="-1" strike="noStrike">
                <a:solidFill>
                  <a:srgbClr val="161f30"/>
                </a:solidFill>
                <a:latin typeface="Calibri"/>
              </a:rPr>
              <a:t>Together, the two analyses provide a computational view of how narrative affect and setting evolve over the course of a book.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10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Interpretation notes &amp; limitations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777240" y="1417320"/>
            <a:ext cx="10469520" cy="275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The emotion results are model predictions, not human-annotated ground truth for these books.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The paragraph percentages/counts summarize dominant selected labels and should not be interpreted as exact emotional truth.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Environmental categories are lexicon-based topic detection; a detected word does not guarantee that the topic is narratively central.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Project Gutenberg formatting occasionally produces chapter-heading artifacts in segmentation; sentence/paragraph totals are therefore the more reliable scale measures.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1600" spc="-1" strike="noStrike">
                <a:solidFill>
                  <a:srgbClr val="182234"/>
                </a:solidFill>
                <a:latin typeface="Aptos"/>
              </a:rPr>
              <a:t>The sentence-level plots use sampled 20-paragraph sets, so they illustrate local dynamics rather than serving as full-book estimates.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11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3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Actual sentence-level emotion flow — Plot 1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621720" y="91440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One sampled set of 20 paragraphs from each book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05" name="Picture 4" descr="11 (1)_c20_o1.png"/>
          <p:cNvPicPr/>
          <p:nvPr/>
        </p:nvPicPr>
        <p:blipFill>
          <a:blip r:embed="rId1"/>
          <a:stretch/>
        </p:blipFill>
        <p:spPr>
          <a:xfrm>
            <a:off x="502920" y="123444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06" name="TextBox 5"/>
          <p:cNvSpPr/>
          <p:nvPr/>
        </p:nvSpPr>
        <p:spPr>
          <a:xfrm>
            <a:off x="502920" y="341064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Alice's Adventures in Wonderland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07" name="Picture 6" descr="84 (1)_c20_o1.png"/>
          <p:cNvPicPr/>
          <p:nvPr/>
        </p:nvPicPr>
        <p:blipFill>
          <a:blip r:embed="rId2"/>
          <a:stretch/>
        </p:blipFill>
        <p:spPr>
          <a:xfrm>
            <a:off x="6217920" y="123444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08" name="TextBox 7"/>
          <p:cNvSpPr/>
          <p:nvPr/>
        </p:nvSpPr>
        <p:spPr>
          <a:xfrm>
            <a:off x="6217920" y="341064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Frankenstein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09" name="Picture 8" descr="1342_c20_o1.png"/>
          <p:cNvPicPr/>
          <p:nvPr/>
        </p:nvPicPr>
        <p:blipFill>
          <a:blip r:embed="rId3"/>
          <a:stretch/>
        </p:blipFill>
        <p:spPr>
          <a:xfrm>
            <a:off x="502920" y="379476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10" name="TextBox 9"/>
          <p:cNvSpPr/>
          <p:nvPr/>
        </p:nvSpPr>
        <p:spPr>
          <a:xfrm>
            <a:off x="502920" y="597096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Pride and Prejudice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11" name="Picture 10" descr="1661 (1)_c20_o1.png"/>
          <p:cNvPicPr/>
          <p:nvPr/>
        </p:nvPicPr>
        <p:blipFill>
          <a:blip r:embed="rId4"/>
          <a:stretch/>
        </p:blipFill>
        <p:spPr>
          <a:xfrm>
            <a:off x="6217920" y="379476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12" name="TextBox 11"/>
          <p:cNvSpPr/>
          <p:nvPr/>
        </p:nvSpPr>
        <p:spPr>
          <a:xfrm>
            <a:off x="6217920" y="597096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The Adventures of Sherlock Holmes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13" name="TextBox 12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13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5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Actual sentence-level emotion flow — Plot 1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621720" y="91440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One sampled set of 20 paragraphs from each book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17" name="Picture 4" descr="11 (1)_c20_o1.png"/>
          <p:cNvPicPr/>
          <p:nvPr/>
        </p:nvPicPr>
        <p:blipFill>
          <a:blip r:embed="rId1"/>
          <a:stretch/>
        </p:blipFill>
        <p:spPr>
          <a:xfrm>
            <a:off x="502920" y="123444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18" name="TextBox 5"/>
          <p:cNvSpPr/>
          <p:nvPr/>
        </p:nvSpPr>
        <p:spPr>
          <a:xfrm>
            <a:off x="502920" y="341064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Alice's Adventures in Wonderland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19" name="Picture 6" descr="84 (1)_c20_o1.png"/>
          <p:cNvPicPr/>
          <p:nvPr/>
        </p:nvPicPr>
        <p:blipFill>
          <a:blip r:embed="rId2"/>
          <a:stretch/>
        </p:blipFill>
        <p:spPr>
          <a:xfrm>
            <a:off x="6217920" y="123444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20" name="TextBox 7"/>
          <p:cNvSpPr/>
          <p:nvPr/>
        </p:nvSpPr>
        <p:spPr>
          <a:xfrm>
            <a:off x="6217920" y="341064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Frankenstein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21" name="Picture 8" descr="1342_c20_o1.png"/>
          <p:cNvPicPr/>
          <p:nvPr/>
        </p:nvPicPr>
        <p:blipFill>
          <a:blip r:embed="rId3"/>
          <a:stretch/>
        </p:blipFill>
        <p:spPr>
          <a:xfrm>
            <a:off x="502920" y="379476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22" name="TextBox 9"/>
          <p:cNvSpPr/>
          <p:nvPr/>
        </p:nvSpPr>
        <p:spPr>
          <a:xfrm>
            <a:off x="502920" y="597096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Pride and Prejudice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23" name="Picture 10" descr="1661 (1)_c20_o1.png"/>
          <p:cNvPicPr/>
          <p:nvPr/>
        </p:nvPicPr>
        <p:blipFill>
          <a:blip r:embed="rId4"/>
          <a:stretch/>
        </p:blipFill>
        <p:spPr>
          <a:xfrm>
            <a:off x="6217920" y="379476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24" name="TextBox 11"/>
          <p:cNvSpPr/>
          <p:nvPr/>
        </p:nvSpPr>
        <p:spPr>
          <a:xfrm>
            <a:off x="6217920" y="597096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The Adventures of Sherlock Holmes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5" name="TextBox 12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13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9f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7" name="TextBox 2"/>
          <p:cNvSpPr/>
          <p:nvPr/>
        </p:nvSpPr>
        <p:spPr>
          <a:xfrm>
            <a:off x="640080" y="292680"/>
            <a:ext cx="1092672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700" spc="-1" strike="noStrike">
                <a:solidFill>
                  <a:srgbClr val="182234"/>
                </a:solidFill>
                <a:latin typeface="Aptos Display"/>
              </a:rPr>
              <a:t>Actual sentence-level emotion flow — Plot 2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621720" y="914400"/>
            <a:ext cx="10789560" cy="22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c6778"/>
                </a:solidFill>
                <a:latin typeface="Aptos"/>
              </a:rPr>
              <a:t>A different sampled set of 20 paragraphs from each book</a:t>
            </a:r>
            <a:endParaRPr b="0" lang="en-IN" sz="1100" spc="-1" strike="noStrike">
              <a:latin typeface="Arial"/>
            </a:endParaRPr>
          </a:p>
        </p:txBody>
      </p:sp>
      <p:pic>
        <p:nvPicPr>
          <p:cNvPr id="129" name="Picture 4" descr="11 (1)_c20_o2.png"/>
          <p:cNvPicPr/>
          <p:nvPr/>
        </p:nvPicPr>
        <p:blipFill>
          <a:blip r:embed="rId1"/>
          <a:stretch/>
        </p:blipFill>
        <p:spPr>
          <a:xfrm>
            <a:off x="502920" y="123444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30" name="TextBox 5"/>
          <p:cNvSpPr/>
          <p:nvPr/>
        </p:nvSpPr>
        <p:spPr>
          <a:xfrm>
            <a:off x="502920" y="341064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Alice's Adventures in Wonderland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31" name="Picture 6" descr="84 (1)_c20_o2.png"/>
          <p:cNvPicPr/>
          <p:nvPr/>
        </p:nvPicPr>
        <p:blipFill>
          <a:blip r:embed="rId2"/>
          <a:stretch/>
        </p:blipFill>
        <p:spPr>
          <a:xfrm>
            <a:off x="6217920" y="123444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32" name="TextBox 7"/>
          <p:cNvSpPr/>
          <p:nvPr/>
        </p:nvSpPr>
        <p:spPr>
          <a:xfrm>
            <a:off x="6217920" y="341064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Frankenstein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33" name="Picture 8" descr="1342_c20_o2.png"/>
          <p:cNvPicPr/>
          <p:nvPr/>
        </p:nvPicPr>
        <p:blipFill>
          <a:blip r:embed="rId3"/>
          <a:stretch/>
        </p:blipFill>
        <p:spPr>
          <a:xfrm>
            <a:off x="502920" y="379476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34" name="TextBox 9"/>
          <p:cNvSpPr/>
          <p:nvPr/>
        </p:nvSpPr>
        <p:spPr>
          <a:xfrm>
            <a:off x="502920" y="597096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Pride and Prejudice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35" name="Picture 10" descr="1661 (1)_c20_o2.png"/>
          <p:cNvPicPr/>
          <p:nvPr/>
        </p:nvPicPr>
        <p:blipFill>
          <a:blip r:embed="rId4"/>
          <a:stretch/>
        </p:blipFill>
        <p:spPr>
          <a:xfrm>
            <a:off x="6217920" y="3794760"/>
            <a:ext cx="5348880" cy="2148480"/>
          </a:xfrm>
          <a:prstGeom prst="rect">
            <a:avLst/>
          </a:prstGeom>
          <a:ln w="0">
            <a:noFill/>
          </a:ln>
        </p:spPr>
      </p:pic>
      <p:sp>
        <p:nvSpPr>
          <p:cNvPr id="136" name="TextBox 11"/>
          <p:cNvSpPr/>
          <p:nvPr/>
        </p:nvSpPr>
        <p:spPr>
          <a:xfrm>
            <a:off x="6217920" y="5970960"/>
            <a:ext cx="5348880" cy="20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000" spc="-1" strike="noStrike">
                <a:solidFill>
                  <a:srgbClr val="161f30"/>
                </a:solidFill>
                <a:latin typeface="Calibri"/>
              </a:rPr>
              <a:t>The Adventures of Sherlock Holmes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594360" y="6446520"/>
            <a:ext cx="10972440" cy="1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rIns="36720" tIns="27360" bIns="2736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US" sz="800" spc="-1" strike="noStrike">
                <a:solidFill>
                  <a:srgbClr val="5c6778"/>
                </a:solidFill>
                <a:latin typeface="Calibri"/>
              </a:rPr>
              <a:t>ModernBERT + GoEmotions  •  Project Gutenberg  •  Results Analysis  •  14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2026-09-28T23:15:22Z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